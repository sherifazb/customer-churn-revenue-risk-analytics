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Two Year</c:v>
                </c:pt>
                <c:pt idx="1">
                  <c:v>One Year</c:v>
                </c:pt>
                <c:pt idx="2">
                  <c:v>Month-to-Month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2.8000000000000001E-2</c:v>
                </c:pt>
                <c:pt idx="1">
                  <c:v>0.112</c:v>
                </c:pt>
                <c:pt idx="2">
                  <c:v>0.42799999999999999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C9-440B-99C8-FCB0399796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 Card (auto)</c:v>
                </c:pt>
                <c:pt idx="1">
                  <c:v>Bank Transfer (auto)</c:v>
                </c:pt>
                <c:pt idx="2">
                  <c:v>Mailed Check</c:v>
                </c:pt>
                <c:pt idx="3">
                  <c:v>Electronic Check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0.153</c:v>
                </c:pt>
                <c:pt idx="1">
                  <c:v>0.16900000000000001</c:v>
                </c:pt>
                <c:pt idx="2">
                  <c:v>0.191</c:v>
                </c:pt>
                <c:pt idx="3">
                  <c:v>0.44400000000000001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0A-4767-BF79-73CCA9689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F9C846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Internet</c:v>
                </c:pt>
                <c:pt idx="1">
                  <c:v>DSL</c:v>
                </c:pt>
                <c:pt idx="2">
                  <c:v>Fiber Optic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7.3999999999999996E-2</c:v>
                </c:pt>
                <c:pt idx="1">
                  <c:v>0.189</c:v>
                </c:pt>
                <c:pt idx="2">
                  <c:v>0.41399999999999998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09-4316-A007-3BC68BEEC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add-on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Security</c:v>
                </c:pt>
                <c:pt idx="1">
                  <c:v>Tech Support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0.41799999999999998</c:v>
                </c:pt>
                <c:pt idx="1">
                  <c:v>0.41699999999999998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09-4A64-AB5A-7B3F7E60DD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add-on</c:v>
                </c:pt>
              </c:strCache>
            </c:strRef>
          </c:tx>
          <c:spPr>
            <a:solidFill>
              <a:srgbClr val="2FBFA8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Security</c:v>
                </c:pt>
                <c:pt idx="1">
                  <c:v>Tech Support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0.14599999999999999</c:v>
                </c:pt>
                <c:pt idx="1">
                  <c:v>0.152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09-4A64-AB5A-7B3F7E60DD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1–12 mo</c:v>
                </c:pt>
                <c:pt idx="1">
                  <c:v>13–24</c:v>
                </c:pt>
                <c:pt idx="2">
                  <c:v>25–36</c:v>
                </c:pt>
                <c:pt idx="3">
                  <c:v>37–48</c:v>
                </c:pt>
                <c:pt idx="4">
                  <c:v>49–60</c:v>
                </c:pt>
                <c:pt idx="5">
                  <c:v>61–72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0.46400000000000002</c:v>
                </c:pt>
                <c:pt idx="1">
                  <c:v>0.28699999999999998</c:v>
                </c:pt>
                <c:pt idx="2">
                  <c:v>0.218</c:v>
                </c:pt>
                <c:pt idx="3">
                  <c:v>0.191</c:v>
                </c:pt>
                <c:pt idx="4">
                  <c:v>0.14499999999999999</c:v>
                </c:pt>
                <c:pt idx="5">
                  <c:v>6.4000000000000001E-2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D-4514-BBE7-270D59726A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Attitude of support person</c:v>
                </c:pt>
                <c:pt idx="1">
                  <c:v>Competitor: faster speed</c:v>
                </c:pt>
                <c:pt idx="2">
                  <c:v>Competitor: more data</c:v>
                </c:pt>
                <c:pt idx="3">
                  <c:v>Don't know</c:v>
                </c:pt>
                <c:pt idx="4">
                  <c:v>Competitor: better offer</c:v>
                </c:pt>
                <c:pt idx="5">
                  <c:v>Attitude of service provider</c:v>
                </c:pt>
                <c:pt idx="6">
                  <c:v>Competitor: better devices</c:v>
                </c:pt>
                <c:pt idx="7">
                  <c:v>Product dissatisfaction</c:v>
                </c:pt>
                <c:pt idx="8">
                  <c:v>Network reliability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185</c:v>
                </c:pt>
                <c:pt idx="1">
                  <c:v>177</c:v>
                </c:pt>
                <c:pt idx="2">
                  <c:v>155</c:v>
                </c:pt>
                <c:pt idx="3">
                  <c:v>145</c:v>
                </c:pt>
                <c:pt idx="4">
                  <c:v>133</c:v>
                </c:pt>
                <c:pt idx="5">
                  <c:v>128</c:v>
                </c:pt>
                <c:pt idx="6">
                  <c:v>124</c:v>
                </c:pt>
                <c:pt idx="7">
                  <c:v>98</c:v>
                </c:pt>
                <c:pt idx="8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9D-4DB4-B3BC-79B1CD09F2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at Risk ($)</c:v>
                </c:pt>
              </c:strCache>
            </c:strRef>
          </c:tx>
          <c:spPr>
            <a:solidFill>
              <a:srgbClr val="F9C846"/>
            </a:solidFill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Giza</c:v>
                </c:pt>
                <c:pt idx="1">
                  <c:v>Matrouh</c:v>
                </c:pt>
                <c:pt idx="2">
                  <c:v>Sharqia</c:v>
                </c:pt>
                <c:pt idx="3">
                  <c:v>Gharbia</c:v>
                </c:pt>
                <c:pt idx="4">
                  <c:v>Alexandria</c:v>
                </c:pt>
                <c:pt idx="5">
                  <c:v>Dakahlia</c:v>
                </c:pt>
                <c:pt idx="6">
                  <c:v>Qalyubia</c:v>
                </c:pt>
                <c:pt idx="7">
                  <c:v>South Sinai</c:v>
                </c:pt>
                <c:pt idx="8">
                  <c:v>North Sinai</c:v>
                </c:pt>
                <c:pt idx="9">
                  <c:v>Damietta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333696</c:v>
                </c:pt>
                <c:pt idx="1">
                  <c:v>211225</c:v>
                </c:pt>
                <c:pt idx="2">
                  <c:v>200915</c:v>
                </c:pt>
                <c:pt idx="3">
                  <c:v>179868</c:v>
                </c:pt>
                <c:pt idx="4">
                  <c:v>149080</c:v>
                </c:pt>
                <c:pt idx="5">
                  <c:v>144683</c:v>
                </c:pt>
                <c:pt idx="6">
                  <c:v>145752</c:v>
                </c:pt>
                <c:pt idx="7">
                  <c:v>137743</c:v>
                </c:pt>
                <c:pt idx="8">
                  <c:v>128311</c:v>
                </c:pt>
                <c:pt idx="9">
                  <c:v>95340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D-44BC-91C0-A0961DA9B0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Modeled Recovery ($K)</c:v>
                </c:pt>
              </c:strCache>
            </c:strRef>
          </c:tx>
          <c:spPr>
            <a:solidFill>
              <a:srgbClr val="2FBFA8"/>
            </a:solidFill>
            <a:effectLst/>
          </c:spPr>
          <c:invertIfNegative val="0"/>
          <c:dLbls>
            <c:numFmt formatCode="&quot;$&quot;#,#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Contract Migration</c:v>
                </c:pt>
                <c:pt idx="1">
                  <c:v>Fiber Add-on Bundle</c:v>
                </c:pt>
                <c:pt idx="2">
                  <c:v>Autopay Nudge</c:v>
                </c:pt>
                <c:pt idx="3">
                  <c:v>Onboarding 90 (Year-1)</c:v>
                </c:pt>
                <c:pt idx="4">
                  <c:v>Segment Care</c:v>
                </c:pt>
                <c:pt idx="5">
                  <c:v>Geo Task Force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</c:v>
                </c:pt>
                <c:pt idx="1">
                  <c:v>340</c:v>
                </c:pt>
                <c:pt idx="2">
                  <c:v>180</c:v>
                </c:pt>
                <c:pt idx="3">
                  <c:v>220</c:v>
                </c:pt>
                <c:pt idx="4">
                  <c:v>90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F-4F5D-AD88-8834A2AA39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15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533"/>
    </a:solidFill>
    <a:ln w="12700" cap="flat">
      <a:solidFill>
        <a:srgbClr val="0B1533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511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bix/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955280" cy="6858000"/>
          </a:xfrm>
          <a:prstGeom prst="rect">
            <a:avLst/>
          </a:prstGeom>
          <a:solidFill>
            <a:srgbClr val="0B1533">
              <a:alpha val="85000"/>
            </a:srgbClr>
          </a:solidFill>
          <a:ln w="12700">
            <a:solidFill>
              <a:srgbClr val="0B153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09728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 ·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Revenue-at-Risk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recovery plan to reclaim $2.87M in at-risk revenue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cut churn from 26.6% toward the industry benchmark.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Customer Analytics Team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internal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numbers, to the drivers, to the recovery playbook.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and the size of the problem.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28803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Leave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payment, product and demographic drivers.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3657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Hurts Most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and revenue concentration of risk.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54480" y="4434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Playbook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44348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targeted plays to retain and re-engage.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47120" cy="685800"/>
          </a:xfrm>
          <a:prstGeom prst="roundRect">
            <a:avLst>
              <a:gd name="adj" fmla="val 6667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54480" y="5212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52120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recovery and the 90-day roadmap.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 four customers is walking out the door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7,018 accounts across Egypt.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097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7,018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base under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194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2194560"/>
            <a:ext cx="109728" cy="1783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2628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observed period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2194560"/>
            <a:ext cx="109728" cy="1783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2104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32104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5–7% telco benchmark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09728" cy="178308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$2.87M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3152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total historical revenue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51960" y="4160520"/>
            <a:ext cx="109728" cy="1783080"/>
          </a:xfrm>
          <a:prstGeom prst="rect">
            <a:avLst/>
          </a:prstGeom>
          <a:solidFill>
            <a:srgbClr val="2FBFA8"/>
          </a:solidFill>
          <a:ln w="12700">
            <a:solidFill>
              <a:srgbClr val="2FB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2628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$4,421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452628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CLTV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628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a retained customer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46720" y="4160520"/>
            <a:ext cx="1097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mo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832104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tenure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36.9 mo for retained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EXPOSURE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$2.87M of historical revenue is tied to customers who churned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 customer is not one payment lost — it is the CLTV of the whole relationship.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$2,877,206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17.95% of total historical revenue ($16.03M) is concentrated in customers already labeled as churned.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286000"/>
            <a:ext cx="521208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× $4.4K avg CLTV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$8.2M future value lost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566160"/>
            <a:ext cx="521208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703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 vs $61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9536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vs retained ARPU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0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pay 21% more — pricing pain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4846320"/>
            <a:ext cx="521208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4983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mo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9536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 at churn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5394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tenure of retained customers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#1 · CONTRACT TYPE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are the #1 churn engine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month-to-month customers churn — 15× the rate of two-year contracts.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6675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406640" y="2194560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8952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26974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$1.97M of the $2.87M at-risk revenue sits in month-to-month accounts.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0" y="42976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
</a:t>
            </a: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on M2M is a fresh decision to leave. Longer commitments = lower churn AND higher CLTV.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#2 · PAYMENT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2.6× more than card users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payment-friction problem hiding in plain sight.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7315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21945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2331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0467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churn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3840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E-check users skew to higher-risk profiles: manual, friction-heavy, and often un-carded. Auto-pay is a retention lever, not a billing preference.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#3 · 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Fiber Optic paradox: our premium product churns the most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Fiber Optic customers churn vs. 19% DSL and 7% no-internet.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194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ROOT CAUSES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2926080"/>
            <a:ext cx="128016" cy="12801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92440" y="2788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— Fiber ARPU is ~2× DSL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611880"/>
            <a:ext cx="128016" cy="12801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92440" y="3474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speed &amp; data offers (top-3 reasons)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4297680"/>
            <a:ext cx="128016" cy="12801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9244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onboarding for a technical product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4983480"/>
            <a:ext cx="128016" cy="12801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92440" y="4846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bundled protection (security, support)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#4 · VALUE ADD-ONS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Security or Tech Support churn 3× more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services are effectively a retention product.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7315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21945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PLAY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27432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Security + Tech Support free for the first 3 months on every Fiber activation.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41148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effect: cut Fiber churn from 41% toward the 15% "with add-on" baseline.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#5 · TENURE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customers leave in their first year — the onboarding cliff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collapses to 6% for customers who stay past 5 years.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8229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961120" y="21945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61120" y="22860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</a:t>
            </a:r>
            <a:endParaRPr lang="en-US" sz="8000" dirty="0"/>
          </a:p>
        </p:txBody>
      </p:sp>
      <p:sp>
        <p:nvSpPr>
          <p:cNvPr id="10" name="Text 7"/>
          <p:cNvSpPr/>
          <p:nvPr/>
        </p:nvSpPr>
        <p:spPr>
          <a:xfrm>
            <a:off x="89611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vs Year-5+ churn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0" y="4206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first 12 months, win the customer.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#6 · WHO IS LEAVING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Seniors, singles, and customers without dependents leave fastest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that need a differentiated retention approach.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09728" cy="1783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8892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29260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23.7% non-senior — 1.8× higher churn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109728" cy="1783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582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9260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19.6% with a partner — social anchor matters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109728" cy="1783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78892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88920" y="4892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6.5% with dependents — 5× higher churn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1605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4160520"/>
            <a:ext cx="109728" cy="1783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458200" y="4389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Billing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58200" y="4892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16.4% paper — digital-first to leave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THE CUSTOMER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say they leave: competitors and support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stated reasons among 1,865 churners — counts of customers.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321040" y="219456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03920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stated reasons are competitor-driven — pricing, speed, data.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03920" y="3840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503920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support/attitude issues — fixable with training and QA.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03920" y="4937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503920" y="5394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product / network reliability — needs engineering focus.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governorates drive the majority of at-risk revenue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states by revenue at risk — every state above 29% churn.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321040" y="219456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Giza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50392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$333K at risk · 29.3% churn · 656 customers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Highest-rate states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0" y="43434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(31.8%), Alexandria (30.1%), North Sinai (30.0%), Port Said (29.9%), Luxor (29.8%).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PLAYBOOK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targeted plays to retain, re-engage, and reclaim revenue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 maps to a driver we have quantified.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Migration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060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discounted 12-month plan to every M2M customer &gt; 6 months tenure. Bundle in Security + Tech Support.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86600" y="221284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Nudge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6060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Electronic Check users to card / bank auto-pay with a one-month credit. Removes billing friction.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Onboarding 90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8404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90-day onboarding for every new Fiber account: install QA call, speed test, add-on trial.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3375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333756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86600" y="344728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Bundling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8404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Tech Support free for 3 months on Fiber. Convert 40%+ of trial users at month 4.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17320" y="46817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Excellence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07492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&amp; QA the top-attrition CS queues; "attitude of support" is the #1 stated churn reason.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45720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457200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086600" y="46817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507492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retention journey for Seniors, No-Partner, No-Dependents — proactive check-ins, human contact.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806440"/>
            <a:ext cx="11247120" cy="1143000"/>
          </a:xfrm>
          <a:prstGeom prst="roundRect">
            <a:avLst>
              <a:gd name="adj" fmla="val 48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80644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71600" y="591616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Task Force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635508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retention squads in Giza, Alexandria, Matrouh, Sharqia and Damietta — matched to local competition.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path to recover $1.4M+ of at-risk revenue in year 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reduction in churn rate by driver, applied to current revenue-at-risk pool.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194560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321040" y="219456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$1.43M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50392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reclaimed in 12 months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4206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26.6% → target 17% by Q4. Assumes 50% adoption of contract migration and 30% conversion of add-on trials.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Revenue-at-Risk  |  Stakeholder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stakeholders to approve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horizons, one owner per workstream, weekly reporting to this room.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churn dashboard v2 (weekly)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autopay nudge campaign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Fiber add-on bundle pricing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1945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1960" y="219456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26280" y="34747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contract migration outreach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41605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onboarding 90 for new Fiber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8463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4709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QA for top-5 CS queues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21945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142248"/>
          </a:solidFill>
          <a:ln w="12700">
            <a:solidFill>
              <a:srgbClr val="142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46720" y="219456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53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measure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21040" y="34747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4964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task force in Giza + Alexandria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21040" y="41605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4023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care pilot: Seniors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21040" y="4846320"/>
            <a:ext cx="109728" cy="10972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49640" y="4709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Q1 recovery vs target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sign-off on the seven plays, budget for onboarding + geo squads, and monthly steering with this group.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8813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1313</Words>
  <Application>Microsoft Office PowerPoint</Application>
  <PresentationFormat>Widescreen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&amp; Revenue-at-Risk — Strategic Recovery</dc:title>
  <dc:subject>PptxGenJS Presentation</dc:subject>
  <dc:creator>PptxGenJS</dc:creator>
  <cp:lastModifiedBy>Sherif Ayman Elsayed</cp:lastModifiedBy>
  <cp:revision>1</cp:revision>
  <dcterms:created xsi:type="dcterms:W3CDTF">2026-07-26T17:37:08Z</dcterms:created>
  <dcterms:modified xsi:type="dcterms:W3CDTF">2026-07-26T17:40:17Z</dcterms:modified>
</cp:coreProperties>
</file>